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274320"/>
            <a:ext cx="2286000" cy="2286000"/>
          </a:xfrm>
          <a:prstGeom prst="ellipse">
            <a:avLst/>
          </a:prstGeom>
          <a:solidFill>
            <a:srgbClr val="E65100">
              <a:alpha val="20000"/>
            </a:srgbClr>
          </a:solidFill>
          <a:ln w="12700">
            <a:solidFill>
              <a:srgbClr val="E6510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0" y="2194560"/>
            <a:ext cx="1645920" cy="1645920"/>
          </a:xfrm>
          <a:prstGeom prst="ellipse">
            <a:avLst/>
          </a:prstGeom>
          <a:solidFill>
            <a:srgbClr val="FF9800">
              <a:alpha val="30000"/>
            </a:srgbClr>
          </a:solidFill>
          <a:ln w="12700">
            <a:solidFill>
              <a:srgbClr val="FF980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73152" cy="12801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9601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APP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Requirements &amp; Dashboard Blueprint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IN PROJECT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Requirement Gathering / Business Requirements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Data Walkthrough &amp; Connection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Data Cleaning / Quality Check (Power Query)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Data Modeling &amp; Relationship Building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DAX Calculations (Measures &amp; Columns)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Dashboard Layouting &amp; Chart Development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Dashboard / Report Development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Insights Generation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0" y="731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1097280"/>
            <a:ext cx="365760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1155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Order_detail.csv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rows — transactional order data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0" y="1554480"/>
            <a:ext cx="365760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15727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Restaurants.csv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rows — restaurant master data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TO BUILD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2587752"/>
            <a:ext cx="201168" cy="20116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2514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Overview &amp; KPI Summary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3026664"/>
            <a:ext cx="201168" cy="20116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2953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Revenue &amp; Food Analysis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0" y="3465576"/>
            <a:ext cx="201168" cy="20116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33924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Restaurant Performance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0" y="3904488"/>
            <a:ext cx="201168" cy="20116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383133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Delivery &amp; Operations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APP ANALYTICS DASHBOARD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REQUIREMENTS  —  KPI MEASURES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Analytics  |  Power BI Dashboard Project  |  Datasets: Order_detail.csv (200 rows) + Restaurants.csv (30 rows)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8595360" cy="34747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344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  —  What the dashboard must measure at a glance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664208"/>
            <a:ext cx="16276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664208"/>
            <a:ext cx="1627632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" y="1801368"/>
            <a:ext cx="585216" cy="585216"/>
          </a:xfrm>
          <a:prstGeom prst="ellipse">
            <a:avLst/>
          </a:prstGeom>
          <a:solidFill>
            <a:srgbClr val="E65100">
              <a:alpha val="85000"/>
            </a:srgbClr>
          </a:solidFill>
          <a:ln w="12700">
            <a:solidFill>
              <a:srgbClr val="E65100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92808"/>
            <a:ext cx="402336" cy="40233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74320" y="246888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65760" y="2871216"/>
            <a:ext cx="1444752" cy="34747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2871216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SUM(Order_Amount)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47472" y="3264408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financial KPI. Shows total INR earned across all orders. Drives pricing and revenue growth decisions.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1965960" y="1664208"/>
            <a:ext cx="16276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965960" y="1664208"/>
            <a:ext cx="1627632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487168" y="1801368"/>
            <a:ext cx="585216" cy="585216"/>
          </a:xfrm>
          <a:prstGeom prst="ellipse">
            <a:avLst/>
          </a:prstGeom>
          <a:solidFill>
            <a:srgbClr val="1565C0">
              <a:alpha val="85000"/>
            </a:srgbClr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1892808"/>
            <a:ext cx="402336" cy="40233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965960" y="246888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2057400" y="2871216"/>
            <a:ext cx="1444752" cy="34747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057400" y="2871216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COUNTROWS(Order_detail)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2039112" y="3264408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KPI. Tracks how many orders were placed. Reveals demand trends and growth momentum.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3657600" y="1664208"/>
            <a:ext cx="16276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3657600" y="1664208"/>
            <a:ext cx="1627632" cy="5486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178808" y="1801368"/>
            <a:ext cx="585216" cy="585216"/>
          </a:xfrm>
          <a:prstGeom prst="ellipse">
            <a:avLst/>
          </a:prstGeom>
          <a:solidFill>
            <a:srgbClr val="00695C">
              <a:alpha val="85000"/>
            </a:srgbClr>
          </a:solidFill>
          <a:ln w="12700">
            <a:solidFill>
              <a:srgbClr val="00695C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1892808"/>
            <a:ext cx="402336" cy="40233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657600" y="246888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Success Rate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3749040" y="2871216"/>
            <a:ext cx="1444752" cy="34747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3749040" y="2871216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Delivered Orders / Total Orders</a:t>
            </a:r>
            <a:endParaRPr lang="en-US" sz="750" dirty="0"/>
          </a:p>
        </p:txBody>
      </p:sp>
      <p:sp>
        <p:nvSpPr>
          <p:cNvPr id="33" name="Text 28"/>
          <p:cNvSpPr/>
          <p:nvPr/>
        </p:nvSpPr>
        <p:spPr>
          <a:xfrm>
            <a:off x="3730752" y="3264408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KPI. % of orders successfully delivered. Target &gt; 85%. Signals partner efficiency.</a:t>
            </a:r>
            <a:endParaRPr lang="en-US" sz="750" dirty="0"/>
          </a:p>
        </p:txBody>
      </p:sp>
      <p:sp>
        <p:nvSpPr>
          <p:cNvPr id="34" name="Shape 29"/>
          <p:cNvSpPr/>
          <p:nvPr/>
        </p:nvSpPr>
        <p:spPr>
          <a:xfrm>
            <a:off x="5349240" y="1664208"/>
            <a:ext cx="16276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5349240" y="1664208"/>
            <a:ext cx="1627632" cy="54864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5870448" y="1801368"/>
            <a:ext cx="585216" cy="585216"/>
          </a:xfrm>
          <a:prstGeom prst="ellipse">
            <a:avLst/>
          </a:prstGeom>
          <a:solidFill>
            <a:srgbClr val="7B1FA2">
              <a:alpha val="85000"/>
            </a:srgbClr>
          </a:solidFill>
          <a:ln w="12700">
            <a:solidFill>
              <a:srgbClr val="7B1FA2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1892808"/>
            <a:ext cx="402336" cy="402336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349240" y="246888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Time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5440680" y="2871216"/>
            <a:ext cx="1444752" cy="34747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440680" y="2871216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AVERAGE(Delivery_Time_Min)</a:t>
            </a:r>
            <a:endParaRPr lang="en-US" sz="750" dirty="0"/>
          </a:p>
        </p:txBody>
      </p:sp>
      <p:sp>
        <p:nvSpPr>
          <p:cNvPr id="41" name="Text 35"/>
          <p:cNvSpPr/>
          <p:nvPr/>
        </p:nvSpPr>
        <p:spPr>
          <a:xfrm>
            <a:off x="5422392" y="3264408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KPI. Mean minutes per delivery. High values indicate congestion or partner shortage in specific cities.</a:t>
            </a:r>
            <a:endParaRPr lang="en-US" sz="750" dirty="0"/>
          </a:p>
        </p:txBody>
      </p:sp>
      <p:sp>
        <p:nvSpPr>
          <p:cNvPr id="42" name="Shape 36"/>
          <p:cNvSpPr/>
          <p:nvPr/>
        </p:nvSpPr>
        <p:spPr>
          <a:xfrm>
            <a:off x="7040880" y="1664208"/>
            <a:ext cx="16276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7040880" y="1664208"/>
            <a:ext cx="1627632" cy="548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7562088" y="1801368"/>
            <a:ext cx="585216" cy="585216"/>
          </a:xfrm>
          <a:prstGeom prst="ellipse">
            <a:avLst/>
          </a:prstGeom>
          <a:solidFill>
            <a:srgbClr val="C62828">
              <a:alpha val="85000"/>
            </a:srgbClr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3528" y="1892808"/>
            <a:ext cx="402336" cy="402336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7040880" y="246888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Customer Rating</a:t>
            </a:r>
            <a:endParaRPr lang="en-US" sz="950" dirty="0"/>
          </a:p>
        </p:txBody>
      </p:sp>
      <p:sp>
        <p:nvSpPr>
          <p:cNvPr id="47" name="Shape 40"/>
          <p:cNvSpPr/>
          <p:nvPr/>
        </p:nvSpPr>
        <p:spPr>
          <a:xfrm>
            <a:off x="7132320" y="2871216"/>
            <a:ext cx="1444752" cy="34747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7132320" y="2871216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AVERAGE(Rating)</a:t>
            </a:r>
            <a:endParaRPr lang="en-US" sz="750" dirty="0"/>
          </a:p>
        </p:txBody>
      </p:sp>
      <p:sp>
        <p:nvSpPr>
          <p:cNvPr id="49" name="Text 42"/>
          <p:cNvSpPr/>
          <p:nvPr/>
        </p:nvSpPr>
        <p:spPr>
          <a:xfrm>
            <a:off x="7114032" y="3264408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KPI. Average 1–5 score. Directly reflects customer experience quality per restaurant or city.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APP ANALYTICS DASHBOARD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REQUIREMENTS  —  CHARTS &amp; VISUALS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Analytics  |  Power BI Dashboard Project  |  Datasets: Order_detail.csv (200 rows) + Restaurants.csv (30 rows)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8595360" cy="34747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344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  →  CHARTS  —  Each chart answers a specific operational or revenue question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673352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673352"/>
            <a:ext cx="54864" cy="14173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764792"/>
            <a:ext cx="384048" cy="38404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801368"/>
            <a:ext cx="292608" cy="29260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2960" y="17465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822960" y="19110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2240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X: Order Month  |  Y: Total Revenue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84048" y="2514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revenue grown month-over-month? Reveals seasonal spikes and slumps for business planning.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3200400" y="1673352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00400" y="1673352"/>
            <a:ext cx="54864" cy="1417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10128" y="1764792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801368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749040" y="17465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3749040" y="19110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Food Item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3310128" y="2240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Y: Food_Item  |  X: Total Revenue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3310128" y="2514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food items drive the most revenue? Guides menu promotion and pricing strategy.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6126480" y="1673352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126480" y="1673352"/>
            <a:ext cx="54864" cy="14173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236208" y="1764792"/>
            <a:ext cx="384048" cy="38404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801368"/>
            <a:ext cx="292608" cy="29260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675120" y="17465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</a:t>
            </a:r>
            <a:endParaRPr lang="en-US" sz="750" dirty="0"/>
          </a:p>
        </p:txBody>
      </p:sp>
      <p:sp>
        <p:nvSpPr>
          <p:cNvPr id="31" name="Text 26"/>
          <p:cNvSpPr/>
          <p:nvPr/>
        </p:nvSpPr>
        <p:spPr>
          <a:xfrm>
            <a:off x="6675120" y="19110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Status Breakdown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6236208" y="2240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Legend: Delivery_Status  |  Values: Total Orders</a:t>
            </a:r>
            <a:endParaRPr lang="en-US" sz="750" dirty="0"/>
          </a:p>
        </p:txBody>
      </p:sp>
      <p:sp>
        <p:nvSpPr>
          <p:cNvPr id="33" name="Text 28"/>
          <p:cNvSpPr/>
          <p:nvPr/>
        </p:nvSpPr>
        <p:spPr>
          <a:xfrm>
            <a:off x="6236208" y="2514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% of orders are Delivered vs Cancelled vs Pending? Core operational health metric.</a:t>
            </a:r>
            <a:endParaRPr lang="en-US" sz="750" dirty="0"/>
          </a:p>
        </p:txBody>
      </p:sp>
      <p:sp>
        <p:nvSpPr>
          <p:cNvPr id="34" name="Shape 29"/>
          <p:cNvSpPr/>
          <p:nvPr/>
        </p:nvSpPr>
        <p:spPr>
          <a:xfrm>
            <a:off x="274320" y="3255264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274320" y="3255264"/>
            <a:ext cx="54864" cy="141732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384048" y="3346704"/>
            <a:ext cx="384048" cy="384048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383280"/>
            <a:ext cx="292608" cy="29260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822960" y="33284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</a:t>
            </a:r>
            <a:endParaRPr lang="en-US" sz="750" dirty="0"/>
          </a:p>
        </p:txBody>
      </p:sp>
      <p:sp>
        <p:nvSpPr>
          <p:cNvPr id="39" name="Text 33"/>
          <p:cNvSpPr/>
          <p:nvPr/>
        </p:nvSpPr>
        <p:spPr>
          <a:xfrm>
            <a:off x="822960" y="34930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Mode Distribution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384048" y="3822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Legend: Payment_Mode  |  Values: Total Revenue</a:t>
            </a:r>
            <a:endParaRPr lang="en-US" sz="750" dirty="0"/>
          </a:p>
        </p:txBody>
      </p:sp>
      <p:sp>
        <p:nvSpPr>
          <p:cNvPr id="41" name="Text 35"/>
          <p:cNvSpPr/>
          <p:nvPr/>
        </p:nvSpPr>
        <p:spPr>
          <a:xfrm>
            <a:off x="384048" y="40965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payment method (UPI/Cash/Card) dominates? Informs fintech partnerships and COD strategy.</a:t>
            </a:r>
            <a:endParaRPr lang="en-US" sz="750" dirty="0"/>
          </a:p>
        </p:txBody>
      </p:sp>
      <p:sp>
        <p:nvSpPr>
          <p:cNvPr id="42" name="Shape 36"/>
          <p:cNvSpPr/>
          <p:nvPr/>
        </p:nvSpPr>
        <p:spPr>
          <a:xfrm>
            <a:off x="3200400" y="3255264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3200400" y="3255264"/>
            <a:ext cx="54864" cy="14173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3310128" y="3346704"/>
            <a:ext cx="384048" cy="38404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48" y="3383280"/>
            <a:ext cx="292608" cy="292608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3749040" y="33284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</a:t>
            </a:r>
            <a:endParaRPr lang="en-US" sz="750" dirty="0"/>
          </a:p>
        </p:txBody>
      </p:sp>
      <p:sp>
        <p:nvSpPr>
          <p:cNvPr id="47" name="Text 40"/>
          <p:cNvSpPr/>
          <p:nvPr/>
        </p:nvSpPr>
        <p:spPr>
          <a:xfrm>
            <a:off x="3749040" y="34930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Restaurants by Revenue</a:t>
            </a:r>
            <a:endParaRPr lang="en-US" sz="900" dirty="0"/>
          </a:p>
        </p:txBody>
      </p:sp>
      <p:sp>
        <p:nvSpPr>
          <p:cNvPr id="48" name="Text 41"/>
          <p:cNvSpPr/>
          <p:nvPr/>
        </p:nvSpPr>
        <p:spPr>
          <a:xfrm>
            <a:off x="3310128" y="3822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X: Restaurant_Name  |  Y: Total Revenue  |  Top N: 10</a:t>
            </a:r>
            <a:endParaRPr lang="en-US" sz="750" dirty="0"/>
          </a:p>
        </p:txBody>
      </p:sp>
      <p:sp>
        <p:nvSpPr>
          <p:cNvPr id="49" name="Text 42"/>
          <p:cNvSpPr/>
          <p:nvPr/>
        </p:nvSpPr>
        <p:spPr>
          <a:xfrm>
            <a:off x="3310128" y="40965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our highest-value restaurant partners? Drives partner prioritisation and promotional deals.</a:t>
            </a:r>
            <a:endParaRPr lang="en-US" sz="750" dirty="0"/>
          </a:p>
        </p:txBody>
      </p:sp>
      <p:sp>
        <p:nvSpPr>
          <p:cNvPr id="50" name="Shape 43"/>
          <p:cNvSpPr/>
          <p:nvPr/>
        </p:nvSpPr>
        <p:spPr>
          <a:xfrm>
            <a:off x="6126480" y="3255264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4"/>
          <p:cNvSpPr/>
          <p:nvPr/>
        </p:nvSpPr>
        <p:spPr>
          <a:xfrm>
            <a:off x="6126480" y="3255264"/>
            <a:ext cx="54864" cy="14173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6236208" y="3346704"/>
            <a:ext cx="384048" cy="38404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3383280"/>
            <a:ext cx="292608" cy="292608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6675120" y="33284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6675120" y="34930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Time by City</a:t>
            </a:r>
            <a:endParaRPr lang="en-US" sz="900" dirty="0"/>
          </a:p>
        </p:txBody>
      </p:sp>
      <p:sp>
        <p:nvSpPr>
          <p:cNvPr id="56" name="Text 48"/>
          <p:cNvSpPr/>
          <p:nvPr/>
        </p:nvSpPr>
        <p:spPr>
          <a:xfrm>
            <a:off x="6236208" y="3822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Y: City  |  X: Avg Delivery Time</a:t>
            </a:r>
            <a:endParaRPr lang="en-US" sz="750" dirty="0"/>
          </a:p>
        </p:txBody>
      </p:sp>
      <p:sp>
        <p:nvSpPr>
          <p:cNvPr id="57" name="Text 49"/>
          <p:cNvSpPr/>
          <p:nvPr/>
        </p:nvSpPr>
        <p:spPr>
          <a:xfrm>
            <a:off x="6236208" y="40965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cities have the slowest deliveries? Guides fleet expansion and logistics investment by location.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APP ANALYTICS DASHBOARD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REQUIREMENTS  —  DAX MEASURES &amp; DASHBOARD PAGES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Analytics  |  Power BI Dashboard Project  |  Datasets: Order_detail.csv (200 rows) + Restaurants.csv (30 rows)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5120640" cy="2926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344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&amp; CALCULATED COLUMNS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54480"/>
          <a:ext cx="5120640" cy="3200400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  <a:gridCol w="1554480"/>
              </a:tblGrid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 / Column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DAX Formula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E651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SUM(Order_Amount)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revenue KPI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Orders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E651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COUNTROWS(Order_detail)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tracking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Order Value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E651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DIVIDE([Total Revenue],[Total Orders],0)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 per order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Success Rate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E651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DIVIDE([Delivered],[Total Orders],0)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 health 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Cancellation Rate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E651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DIVIDE([Cancelled],[Total Orders],0)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monitoring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Delivery Time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E651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AVERAGE(Delivery_Time_Min)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KPI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Rating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E651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AVERAGE(Rating)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Satisfaction KPI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This Month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E651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CALCULATE([Revenue],DATESMTD(...))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tracking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Month (col)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E651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FORMAT(Order_date, "MMM YYYY")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axis label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Category (col)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E651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SWITCH(TRUE(), Amount&lt;200,"Low",...)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Category (col)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E651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SWITCH(TRUE(), Mins&lt;=30,"Fast",...)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tier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A2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Years Open (col)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E651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2025 - RELATED(Opening_Year)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 age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0" y="1234440"/>
            <a:ext cx="3246120" cy="2926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0" y="12344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69280" y="1572768"/>
            <a:ext cx="3246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69280" y="1572768"/>
            <a:ext cx="54864" cy="7498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33288" y="1645920"/>
            <a:ext cx="292608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33288" y="164592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080760" y="16276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KPIs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080760" y="186537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KPI card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KPI card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Success Rate card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Time card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Line Chart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5669280" y="2368296"/>
            <a:ext cx="3246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669280" y="2368296"/>
            <a:ext cx="54864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733288" y="2441448"/>
            <a:ext cx="292608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33288" y="2441448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080760" y="24231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Revenue Analysis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080760" y="266090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Food Item (Bar)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Status Donut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Rating Column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Category Stacked Bar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5669280" y="3163824"/>
            <a:ext cx="3246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669280" y="3163824"/>
            <a:ext cx="54864" cy="7498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733288" y="3236976"/>
            <a:ext cx="292608" cy="20116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33288" y="3236976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080760" y="32186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Performance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080760" y="345643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Restaurants (Column)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Cuisine Treemap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Time by City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filter slicer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5669280" y="3959352"/>
            <a:ext cx="3246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669280" y="3959352"/>
            <a:ext cx="54864" cy="74980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733288" y="4032504"/>
            <a:ext cx="292608" cy="20116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733288" y="403250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080760" y="40142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Operations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080760" y="42519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Mode Pie Chart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UPI/Cash/Card revenue cards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 KPI</a:t>
            </a:r>
            <a:endParaRPr lang="en-US" sz="750" dirty="0"/>
          </a:p>
          <a:p>
            <a:pPr marL="342900" indent="-342900">
              <a:buSzPct val="100000"/>
              <a:buChar char="•"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City slicers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Delivery Analytics – Business Requirements</dc:title>
  <dc:subject>PptxGenJS Presentation</dc:subject>
  <dc:creator>PptxGenJS</dc:creator>
  <cp:lastModifiedBy>PptxGenJS</cp:lastModifiedBy>
  <cp:revision>1</cp:revision>
  <dcterms:created xsi:type="dcterms:W3CDTF">2026-05-19T04:16:28Z</dcterms:created>
  <dcterms:modified xsi:type="dcterms:W3CDTF">2026-05-19T04:16:28Z</dcterms:modified>
</cp:coreProperties>
</file>